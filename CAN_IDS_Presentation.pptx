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457200"/>
            <a:ext cx="2011680" cy="1280160"/>
          </a:xfrm>
          <a:prstGeom prst="rect">
            <a:avLst/>
          </a:prstGeom>
          <a:solidFill>
            <a:srgbClr val="132235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0" y="2011680"/>
            <a:ext cx="1554480" cy="914400"/>
          </a:xfrm>
          <a:prstGeom prst="rect">
            <a:avLst/>
          </a:prstGeom>
          <a:solidFill>
            <a:srgbClr val="1A2E45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0" y="3200400"/>
            <a:ext cx="2286000" cy="822960"/>
          </a:xfrm>
          <a:prstGeom prst="rect">
            <a:avLst/>
          </a:prstGeom>
          <a:solidFill>
            <a:srgbClr val="13223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0" y="502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 BUS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960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INTRUSION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2103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0x666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675120" y="3246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 &gt; 350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8229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CAN BUS INTRUSION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65760" y="16002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DETECTION SYSTEM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65760" y="2606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Physical-Layer Authentication for In-Vehicle Networks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32235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47091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 •  CAN Bus (TWAI Driver)  •  Analog Signal Fingerprinting  •  Real-Time Alert System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188720"/>
            <a:ext cx="2834640" cy="347472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834640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2344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No Authentication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25603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Bus was designed in the 1980s for reliability — not security. Any node on the bus can send any message with any ID, with zero verification.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834640" cy="347472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188720"/>
            <a:ext cx="2834640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2344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Spoofing Attacks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1828800"/>
            <a:ext cx="25603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can inject malicious CAN frames using unknown node IDs (e.g. 0x666) to manipulate critical vehicle systems like speed or braking.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188720"/>
            <a:ext cx="2834640" cy="347472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188720"/>
            <a:ext cx="2834640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2344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 No Intrusion Detection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1828800"/>
            <a:ext cx="25603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ECU setups have no mechanism to detect whether a message is from a legitimate ECU or from a rogue attacker node physically plugged into the bus.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43000"/>
            <a:ext cx="8595360" cy="374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Legitimate nodes  |  Red = Attacker node  |  Blue = Surveillance node  |  Yellow = CAN Bus lines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CAN BUS COMMUNICATION WORKS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132235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97280"/>
            <a:ext cx="1920240" cy="1188720"/>
          </a:xfrm>
          <a:prstGeom prst="rect">
            <a:avLst/>
          </a:prstGeom>
          <a:solidFill>
            <a:srgbClr val="2DC65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4300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94560" y="1554480"/>
            <a:ext cx="274320" cy="91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2194560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68880" y="1097280"/>
            <a:ext cx="1920240" cy="118872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14300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1554480"/>
            <a:ext cx="274320" cy="91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1097280"/>
            <a:ext cx="1920240" cy="1188720"/>
          </a:xfrm>
          <a:prstGeom prst="rect">
            <a:avLst/>
          </a:prstGeom>
          <a:solidFill>
            <a:srgbClr val="48CAE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114300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TRANSCEIVER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FRAME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0" y="1554480"/>
            <a:ext cx="274320" cy="91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0" y="1097280"/>
            <a:ext cx="1920240" cy="1188720"/>
          </a:xfrm>
          <a:prstGeom prst="rect">
            <a:avLst/>
          </a:prstGeom>
          <a:solidFill>
            <a:srgbClr val="FFB703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0" y="114300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NODES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 FRAME STRUCTURE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017520"/>
            <a:ext cx="640080" cy="1005840"/>
          </a:xfrm>
          <a:prstGeom prst="rect">
            <a:avLst/>
          </a:prstGeom>
          <a:solidFill>
            <a:srgbClr val="1A2E45"/>
          </a:solidFill>
          <a:ln w="12700">
            <a:solidFill>
              <a:srgbClr val="8DA0B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06324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0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bit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14400" y="3017520"/>
            <a:ext cx="1463040" cy="1005840"/>
          </a:xfrm>
          <a:prstGeom prst="rect">
            <a:avLst/>
          </a:prstGeom>
          <a:solidFill>
            <a:srgbClr val="FF6B35"/>
          </a:solidFill>
          <a:ln w="12700">
            <a:solidFill>
              <a:srgbClr val="8DA0B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0632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IDENTIFIER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bits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377440" y="3017520"/>
            <a:ext cx="640080" cy="1005840"/>
          </a:xfrm>
          <a:prstGeom prst="rect">
            <a:avLst/>
          </a:prstGeom>
          <a:solidFill>
            <a:srgbClr val="1A2E45"/>
          </a:solidFill>
          <a:ln w="12700">
            <a:solidFill>
              <a:srgbClr val="8DA0B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77440" y="306324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0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bit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017520" y="3017520"/>
            <a:ext cx="822960" cy="1005840"/>
          </a:xfrm>
          <a:prstGeom prst="rect">
            <a:avLst/>
          </a:prstGeom>
          <a:solidFill>
            <a:srgbClr val="1A2E45"/>
          </a:solidFill>
          <a:ln w="12700">
            <a:solidFill>
              <a:srgbClr val="8DA0B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0" y="306324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0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bits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840480" y="3017520"/>
            <a:ext cx="1828800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8DA0B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0" y="30632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0–64 bytes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669280" y="3017520"/>
            <a:ext cx="1005840" cy="1005840"/>
          </a:xfrm>
          <a:prstGeom prst="rect">
            <a:avLst/>
          </a:prstGeom>
          <a:solidFill>
            <a:srgbClr val="1A2E45"/>
          </a:solidFill>
          <a:ln w="12700">
            <a:solidFill>
              <a:srgbClr val="8DA0B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0" y="306324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0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bits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675120" y="3017520"/>
            <a:ext cx="731520" cy="1005840"/>
          </a:xfrm>
          <a:prstGeom prst="rect">
            <a:avLst/>
          </a:prstGeom>
          <a:solidFill>
            <a:srgbClr val="2DC653"/>
          </a:solidFill>
          <a:ln w="12700">
            <a:solidFill>
              <a:srgbClr val="8DA0B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0" y="306324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ACK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bits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406640" y="3017520"/>
            <a:ext cx="640080" cy="1005840"/>
          </a:xfrm>
          <a:prstGeom prst="rect">
            <a:avLst/>
          </a:prstGeom>
          <a:solidFill>
            <a:srgbClr val="1A2E45"/>
          </a:solidFill>
          <a:ln w="12700">
            <a:solidFill>
              <a:srgbClr val="8DA0B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06640" y="306324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EOF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0DC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bits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4160520"/>
            <a:ext cx="8595360" cy="685800"/>
          </a:xfrm>
          <a:prstGeom prst="rect">
            <a:avLst/>
          </a:prstGeom>
          <a:solidFill>
            <a:srgbClr val="132235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20624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IDENTIFIER field determines message priority and source — but CAN protocol has NO authentication to verify it is genuine.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DETECTION METHODOLOGY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143000"/>
            <a:ext cx="4114800" cy="35661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4114800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887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LAYER SAMPLING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0078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pin (GPIO 34) samples the CAN bus voltage in real time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221992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18541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samples collected over ~1 ms using analogRead() at 12-bit resolution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706624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67004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– MIN voltage difference (DIFF) computed for each received message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191256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1546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ECUs produce consistent, low-noise analog signatures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75888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63931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Rogue nodes produce higher variance due to different hardware characteristics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1143000"/>
            <a:ext cx="4114800" cy="35661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143000"/>
            <a:ext cx="4114800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11887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LOGIC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92040" y="1719072"/>
            <a:ext cx="320040" cy="320040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17190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57800" y="1700784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CAN frame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92040" y="2203704"/>
            <a:ext cx="320040" cy="320040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22037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57800" y="2185416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ID is known (0x101 or 0x102)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92040" y="2688336"/>
            <a:ext cx="320040" cy="32004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26883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57800" y="267004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DIFF from ADC samples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92040" y="3172968"/>
            <a:ext cx="320040" cy="32004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1729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57800" y="315468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DIFF against trained threshold (350)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92040" y="3657600"/>
            <a:ext cx="320040" cy="320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57800" y="363931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DIFF &gt; threshold or unknown ID → increment abnormalCount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92040" y="4142232"/>
            <a:ext cx="320040" cy="3200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7" name="Text 35"/>
          <p:cNvSpPr/>
          <p:nvPr/>
        </p:nvSpPr>
        <p:spPr>
          <a:xfrm>
            <a:off x="4892040" y="41422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57800" y="4123944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abnormalCount ≥ 3 → INTRUSION ALERT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HARDWARE SETUP &amp; NODE ROLES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132235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960120"/>
            <a:ext cx="2103120" cy="3931920"/>
          </a:xfrm>
          <a:prstGeom prst="rect">
            <a:avLst/>
          </a:prstGeom>
          <a:solidFill>
            <a:srgbClr val="1322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960120"/>
            <a:ext cx="2103120" cy="68580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10058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ECU NODE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1325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 ID: 0x101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783080"/>
            <a:ext cx="73152" cy="73152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6479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5 (TX) / GPIO 4 (RX)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286000"/>
            <a:ext cx="73152" cy="73152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26771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1-byte payload (speed=60)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788920"/>
            <a:ext cx="73152" cy="73152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77063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by button press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3291840"/>
            <a:ext cx="73152" cy="73152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27355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kbps CAN bus speed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794760"/>
            <a:ext cx="73152" cy="73152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77647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legitimate node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468880" y="960120"/>
            <a:ext cx="2103120" cy="3931920"/>
          </a:xfrm>
          <a:prstGeom prst="rect">
            <a:avLst/>
          </a:prstGeom>
          <a:solidFill>
            <a:srgbClr val="1322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468880" y="960120"/>
            <a:ext cx="2103120" cy="68580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21" name="Text 19"/>
          <p:cNvSpPr/>
          <p:nvPr/>
        </p:nvSpPr>
        <p:spPr>
          <a:xfrm>
            <a:off x="2468880" y="10058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BRAKE ECU NODE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68880" y="1325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 ID: 0x102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606040" y="1783080"/>
            <a:ext cx="73152" cy="73152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0" y="176479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5 (TX) / GPIO 4 (RX)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606040" y="2286000"/>
            <a:ext cx="73152" cy="73152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0" y="226771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1-byte payload (brake=1)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606040" y="2788920"/>
            <a:ext cx="73152" cy="73152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0" y="277063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by button press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606040" y="3291840"/>
            <a:ext cx="73152" cy="73152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0" y="327355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kbps CAN bus speed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606040" y="3794760"/>
            <a:ext cx="73152" cy="73152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0" y="377647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legitimate node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960120"/>
            <a:ext cx="2103120" cy="3931920"/>
          </a:xfrm>
          <a:prstGeom prst="rect">
            <a:avLst/>
          </a:prstGeom>
          <a:solidFill>
            <a:srgbClr val="1322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960120"/>
            <a:ext cx="2103120" cy="6858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10058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 NODE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54880" y="1325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 ID: 0x666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92040" y="1783080"/>
            <a:ext cx="73152" cy="731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0" y="176479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5 (TX) / GPIO 4 (RX)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92040" y="2286000"/>
            <a:ext cx="73152" cy="731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0" y="226771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0xFF payload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92040" y="2788920"/>
            <a:ext cx="73152" cy="731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0" y="277063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20ms interval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92040" y="3291840"/>
            <a:ext cx="73152" cy="731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4" name="Text 42"/>
          <p:cNvSpPr/>
          <p:nvPr/>
        </p:nvSpPr>
        <p:spPr>
          <a:xfrm>
            <a:off x="5029200" y="327355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Unknown/spoofed CAN ID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92040" y="3794760"/>
            <a:ext cx="73152" cy="731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6" name="Text 44"/>
          <p:cNvSpPr/>
          <p:nvPr/>
        </p:nvSpPr>
        <p:spPr>
          <a:xfrm>
            <a:off x="5029200" y="377647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rogue injection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040880" y="960120"/>
            <a:ext cx="2103120" cy="3931920"/>
          </a:xfrm>
          <a:prstGeom prst="rect">
            <a:avLst/>
          </a:prstGeom>
          <a:solidFill>
            <a:srgbClr val="1322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040880" y="960120"/>
            <a:ext cx="2103120" cy="6858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9" name="Text 47"/>
          <p:cNvSpPr/>
          <p:nvPr/>
        </p:nvSpPr>
        <p:spPr>
          <a:xfrm>
            <a:off x="7040880" y="10058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SURVEILLANCE NODE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040880" y="1325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IDS Monitor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178040" y="1783080"/>
            <a:ext cx="73152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2" name="Text 50"/>
          <p:cNvSpPr/>
          <p:nvPr/>
        </p:nvSpPr>
        <p:spPr>
          <a:xfrm>
            <a:off x="7315200" y="176479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on GPIO 34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178040" y="2286000"/>
            <a:ext cx="73152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4" name="Text 52"/>
          <p:cNvSpPr/>
          <p:nvPr/>
        </p:nvSpPr>
        <p:spPr>
          <a:xfrm>
            <a:off x="7315200" y="226771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I2C on 0x27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178040" y="2788920"/>
            <a:ext cx="73152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6" name="Text 54"/>
          <p:cNvSpPr/>
          <p:nvPr/>
        </p:nvSpPr>
        <p:spPr>
          <a:xfrm>
            <a:off x="7315200" y="277063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on GPIO 27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178040" y="3291840"/>
            <a:ext cx="73152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8" name="Text 56"/>
          <p:cNvSpPr/>
          <p:nvPr/>
        </p:nvSpPr>
        <p:spPr>
          <a:xfrm>
            <a:off x="7315200" y="327355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CAN-H/CAN-L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178040" y="3794760"/>
            <a:ext cx="73152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0" name="Text 58"/>
          <p:cNvSpPr/>
          <p:nvPr/>
        </p:nvSpPr>
        <p:spPr>
          <a:xfrm>
            <a:off x="7315200" y="377647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&amp; alerts in real-time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THRESHOLD CALIBRATION &amp;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143000"/>
            <a:ext cx="2468880" cy="14630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344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350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THRESHOLD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8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(ADC DIFF Units)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926080" y="1143000"/>
            <a:ext cx="2468880" cy="14630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26080" y="12344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DC6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350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2926080" y="1920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THRESHOLD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8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(ADC DIFF Units)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577840" y="1143000"/>
            <a:ext cx="2468880" cy="14630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77840" y="12344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3×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5577840" y="1920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 HITS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8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ALERT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27889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 SIGNATURE COMPARISON (ADC DIFF)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4526280"/>
            <a:ext cx="7315200" cy="9144"/>
          </a:xfrm>
          <a:prstGeom prst="rect">
            <a:avLst/>
          </a:prstGeom>
          <a:solidFill>
            <a:srgbClr val="D0DCE8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4416552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097280" y="4038600"/>
            <a:ext cx="7315200" cy="9144"/>
          </a:xfrm>
          <a:prstGeom prst="rect">
            <a:avLst/>
          </a:prstGeom>
          <a:solidFill>
            <a:srgbClr val="D0DCE8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3928872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097280" y="3672840"/>
            <a:ext cx="7315200" cy="914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3563112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350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097280" y="3307080"/>
            <a:ext cx="7315200" cy="9144"/>
          </a:xfrm>
          <a:prstGeom prst="rect">
            <a:avLst/>
          </a:prstGeom>
          <a:solidFill>
            <a:srgbClr val="D0DCE8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197352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29200" y="3535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THRESHOLD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371600" y="4014216"/>
            <a:ext cx="1645920" cy="512064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25" name="Text 23"/>
          <p:cNvSpPr/>
          <p:nvPr/>
        </p:nvSpPr>
        <p:spPr>
          <a:xfrm>
            <a:off x="1371600" y="3758184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371600" y="456285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ECU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(0x101)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840480" y="4050792"/>
            <a:ext cx="1645920" cy="475488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0" y="37947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840480" y="456285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ECU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(0x102)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309360" y="3258312"/>
            <a:ext cx="1645920" cy="126796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30022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09360" y="456285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(0x666)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ALERT SYSTEM &amp; REAL-TIME OUTPUT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132235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960120"/>
            <a:ext cx="2834640" cy="3931920"/>
          </a:xfrm>
          <a:prstGeom prst="rect">
            <a:avLst/>
          </a:prstGeom>
          <a:solidFill>
            <a:srgbClr val="1322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960120"/>
            <a:ext cx="2834640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10058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LCD DISPLAY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5727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mode: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847088"/>
            <a:ext cx="260604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865376"/>
            <a:ext cx="25146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"SPEED ECU  |  STATUS: UPDATED"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0040" y="235000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Checking: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624328"/>
            <a:ext cx="260604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642616"/>
            <a:ext cx="25146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"CHECKING..."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0040" y="312724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mode: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3401568"/>
            <a:ext cx="260604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419856"/>
            <a:ext cx="25146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"INTRUSION ALERT | UNKNOWN NODE"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4224528"/>
            <a:ext cx="2606040" cy="50292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4242816"/>
            <a:ext cx="25146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16×2 I2C LCD at address 0x27 refreshes on every received frame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0" y="960120"/>
            <a:ext cx="2834640" cy="3931920"/>
          </a:xfrm>
          <a:prstGeom prst="rect">
            <a:avLst/>
          </a:prstGeom>
          <a:solidFill>
            <a:srgbClr val="1322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960120"/>
            <a:ext cx="2834640" cy="45720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0" y="10058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MONITOR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37560" y="15727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OK: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91840" y="1847088"/>
            <a:ext cx="260604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1865376"/>
            <a:ext cx="25146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"[OK] SPEED ECU | DIFF=210"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337560" y="235000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OK: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91840" y="2624328"/>
            <a:ext cx="260604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2642616"/>
            <a:ext cx="25146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"[OK] BRAKE ECU | DIFF=195"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337560" y="312724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91840" y="3401568"/>
            <a:ext cx="260604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3419856"/>
            <a:ext cx="25146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"[ALERT] UNKNOWN NODE | ID=0x666 | DIFF=520"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91840" y="4224528"/>
            <a:ext cx="2606040" cy="50292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2" name="Text 30"/>
          <p:cNvSpPr/>
          <p:nvPr/>
        </p:nvSpPr>
        <p:spPr>
          <a:xfrm>
            <a:off x="3337560" y="4242816"/>
            <a:ext cx="25146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115200 baud serial output with timestamped CAN ID and DIFF values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217920" y="960120"/>
            <a:ext cx="2834640" cy="3931920"/>
          </a:xfrm>
          <a:prstGeom prst="rect">
            <a:avLst/>
          </a:prstGeom>
          <a:solidFill>
            <a:srgbClr val="1322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17920" y="960120"/>
            <a:ext cx="2834640" cy="4572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0" y="10058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BUZZER ALERT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355080" y="15727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Normal: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309360" y="1847088"/>
            <a:ext cx="260604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1865376"/>
            <a:ext cx="25146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 OFF (GPIO 27 = LOW)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355080" y="235000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1-2: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309360" y="2624328"/>
            <a:ext cx="260604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2642616"/>
            <a:ext cx="25146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 OFF — still checking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355080" y="312724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≥ 3: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309360" y="3401568"/>
            <a:ext cx="260604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3419856"/>
            <a:ext cx="25146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 ON — sustained alert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309360" y="4224528"/>
            <a:ext cx="2606040" cy="50292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46" name="Text 44"/>
          <p:cNvSpPr/>
          <p:nvPr/>
        </p:nvSpPr>
        <p:spPr>
          <a:xfrm>
            <a:off x="6355080" y="4242816"/>
            <a:ext cx="25146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buzzer activation until legitimate traffic resets abnormal counter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 &amp; FUTURE SCOPE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132235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4023360" cy="2743200"/>
          </a:xfrm>
          <a:prstGeom prst="rect">
            <a:avLst/>
          </a:prstGeom>
          <a:solidFill>
            <a:srgbClr val="1322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4023360" cy="438912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95097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ACHIEVED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" y="1481328"/>
            <a:ext cx="182880" cy="182880"/>
          </a:xfrm>
          <a:prstGeom prst="ellipse">
            <a:avLst/>
          </a:prstGeom>
          <a:solidFill>
            <a:srgbClr val="2DC653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453896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Physical-layer fingerprinting using ADC differential analysis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" y="1911096"/>
            <a:ext cx="182880" cy="182880"/>
          </a:xfrm>
          <a:prstGeom prst="ellipse">
            <a:avLst/>
          </a:prstGeom>
          <a:solidFill>
            <a:srgbClr val="2DC653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883664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detection of spoofed CAN IDs (0x666 attacker)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8912" y="2340864"/>
            <a:ext cx="182880" cy="182880"/>
          </a:xfrm>
          <a:prstGeom prst="ellipse">
            <a:avLst/>
          </a:prstGeom>
          <a:solidFill>
            <a:srgbClr val="2DC65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31343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Multi-node CAN bus simulation on ESP32 hardware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2770632"/>
            <a:ext cx="182880" cy="182880"/>
          </a:xfrm>
          <a:prstGeom prst="ellipse">
            <a:avLst/>
          </a:prstGeom>
          <a:solidFill>
            <a:srgbClr val="2DC653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7432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Zero-false-positive design with 3-hit confirmation window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8912" y="3200400"/>
            <a:ext cx="182880" cy="182880"/>
          </a:xfrm>
          <a:prstGeom prst="ellipse">
            <a:avLst/>
          </a:prstGeom>
          <a:solidFill>
            <a:srgbClr val="2DC653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172968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alert output: LCD + buzzer for immediate visibility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914400"/>
            <a:ext cx="4023360" cy="2743200"/>
          </a:xfrm>
          <a:prstGeom prst="rect">
            <a:avLst/>
          </a:prstGeom>
          <a:solidFill>
            <a:srgbClr val="1322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914400"/>
            <a:ext cx="4023360" cy="43891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95097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FUTURE SCOPE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10912" y="1490472"/>
            <a:ext cx="182880" cy="182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5257800" y="1453896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learning-based anomaly detection on bus traffic patterns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10912" y="1920240"/>
            <a:ext cx="182880" cy="182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5257800" y="1883664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FD support for next-generation automotive ECUs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10912" y="2350008"/>
            <a:ext cx="182880" cy="182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5257800" y="231343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message authentication (CMAC / AES-based)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10912" y="2779776"/>
            <a:ext cx="182880" cy="182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5257800" y="27432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OBD-II port deployment for real vehicle integration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10912" y="3209544"/>
            <a:ext cx="182880" cy="182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1" name="Text 29"/>
          <p:cNvSpPr/>
          <p:nvPr/>
        </p:nvSpPr>
        <p:spPr>
          <a:xfrm>
            <a:off x="5257800" y="3172968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dashboard for fleet-wide intrusion monitoring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3840480"/>
            <a:ext cx="8595360" cy="1005840"/>
          </a:xfrm>
          <a:prstGeom prst="rect">
            <a:avLst/>
          </a:prstGeom>
          <a:solidFill>
            <a:srgbClr val="132235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7200" y="3886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combining CAN ID whitelisting with physical-layer analog fingerprinting, this system detects intrusions that purely software-based solutions would miss — adding a critical hardware-level trust boundary to in-vehicle networks.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 Bus Intrusion Detection System</dc:title>
  <dc:subject>PptxGenJS Presentation</dc:subject>
  <dc:creator>PptxGenJS</dc:creator>
  <cp:lastModifiedBy>PptxGenJS</cp:lastModifiedBy>
  <cp:revision>1</cp:revision>
  <dcterms:created xsi:type="dcterms:W3CDTF">2026-03-01T04:30:44Z</dcterms:created>
  <dcterms:modified xsi:type="dcterms:W3CDTF">2026-03-01T04:30:44Z</dcterms:modified>
</cp:coreProperties>
</file>